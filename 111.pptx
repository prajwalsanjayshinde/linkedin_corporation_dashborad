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D3378-99D0-10C0-92A0-7120341A6361}" v="33" dt="2025-04-30T00:11:23.527"/>
    <p1510:client id="{4DD2FED3-2151-D0DA-3889-DBF3F3D7FAC0}" v="13" dt="2025-04-29T23:26:05.614"/>
    <p1510:client id="{5DE07846-8DA6-BE22-78A9-13FB6DE4B3A0}" v="1" dt="2025-04-30T03:40:38.602"/>
    <p1510:client id="{5EDA0AD9-654B-BE4A-AC1A-B4249653F200}" v="17" dt="2025-04-30T16:31:52.883"/>
    <p1510:client id="{7C2B15E1-4B40-66EB-3915-636A6E09108F}" v="1" dt="2025-04-29T23:50:02.202"/>
    <p1510:client id="{B021BE98-E04F-472C-820B-E72E5AB1BE98}" v="103" dt="2025-04-30T15:14:33.607"/>
    <p1510:client id="{B1AFC364-3A68-E3F5-E778-B36F550C68DA}" v="65" dt="2025-04-29T23:47:05.870"/>
    <p1510:client id="{B2F9ABE4-8748-F5D1-B3F7-BCC8BEE3E006}" v="24" dt="2025-04-30T23:00:00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62423"/>
  </p:normalViewPr>
  <p:slideViewPr>
    <p:cSldViewPr snapToGrid="0">
      <p:cViewPr varScale="1">
        <p:scale>
          <a:sx n="58" d="100"/>
          <a:sy n="58" d="100"/>
        </p:scale>
        <p:origin x="21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buNone/>
            </a:pPr>
            <a:endParaRPr dirty="0"/>
          </a:p>
        </p:txBody>
      </p:sp>
      <p:sp>
        <p:nvSpPr>
          <p:cNvPr id="59" name="Google Shape;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0" name="Google Shape;7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/>
          </a:p>
        </p:txBody>
      </p:sp>
      <p:sp>
        <p:nvSpPr>
          <p:cNvPr id="179" name="Google Shape;17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/>
          <p:nvPr/>
        </p:nvSpPr>
        <p:spPr>
          <a:xfrm>
            <a:off x="793790" y="1702118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LinkedIn Business Intelligence for Student Career Guidance</a:t>
            </a:r>
            <a:endParaRPr sz="4450" b="0" i="0" u="none" strike="noStrike" cap="none"/>
          </a:p>
        </p:txBody>
      </p:sp>
      <p:sp>
        <p:nvSpPr>
          <p:cNvPr id="62" name="Google Shape;62;p18"/>
          <p:cNvSpPr/>
          <p:nvPr/>
        </p:nvSpPr>
        <p:spPr>
          <a:xfrm>
            <a:off x="793790" y="4168616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data-driven approach to empower students with actionable insights for career planning and skill development.</a:t>
            </a:r>
            <a:endParaRPr sz="1750" b="0" i="0" u="none" strike="noStrike" cap="none"/>
          </a:p>
        </p:txBody>
      </p:sp>
      <p:sp>
        <p:nvSpPr>
          <p:cNvPr id="63" name="Google Shape;63;p18"/>
          <p:cNvSpPr/>
          <p:nvPr/>
        </p:nvSpPr>
        <p:spPr>
          <a:xfrm>
            <a:off x="793790" y="514957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endParaRPr sz="1750" b="1" i="0" u="none" strike="noStrike" cap="none" dirty="0"/>
          </a:p>
        </p:txBody>
      </p:sp>
      <p:sp>
        <p:nvSpPr>
          <p:cNvPr id="64" name="Google Shape;64;p18"/>
          <p:cNvSpPr/>
          <p:nvPr/>
        </p:nvSpPr>
        <p:spPr>
          <a:xfrm>
            <a:off x="793790" y="6147435"/>
            <a:ext cx="362903" cy="362903"/>
          </a:xfrm>
          <a:prstGeom prst="roundRect">
            <a:avLst>
              <a:gd name="adj" fmla="val 25194296"/>
            </a:avLst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8"/>
          <p:cNvSpPr/>
          <p:nvPr/>
        </p:nvSpPr>
        <p:spPr>
          <a:xfrm>
            <a:off x="1270040" y="6130528"/>
            <a:ext cx="2380059" cy="39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Inter"/>
              <a:buNone/>
            </a:pPr>
            <a:endParaRPr sz="2200" b="0" i="0" u="none" strike="noStrike" cap="none"/>
          </a:p>
        </p:txBody>
      </p:sp>
      <p:pic>
        <p:nvPicPr>
          <p:cNvPr id="66" name="Google Shape;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211" y="1127100"/>
            <a:ext cx="5975391" cy="597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57"/>
    </mc:Choice>
    <mc:Fallback xmlns="">
      <p:transition spd="slow" advTm="198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300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6228636" y="583168"/>
            <a:ext cx="5622131" cy="66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150"/>
              <a:buFont typeface="DM Sans"/>
              <a:buNone/>
            </a:pPr>
            <a:r>
              <a:rPr lang="en-US" sz="41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Organization Overview</a:t>
            </a:r>
            <a:endParaRPr sz="4150" b="0" i="0" u="none" strike="noStrike" cap="none"/>
          </a:p>
        </p:txBody>
      </p:sp>
      <p:pic>
        <p:nvPicPr>
          <p:cNvPr id="74" name="Google Shape;7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8636" y="1564124"/>
            <a:ext cx="530185" cy="53018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9"/>
          <p:cNvSpPr/>
          <p:nvPr/>
        </p:nvSpPr>
        <p:spPr>
          <a:xfrm>
            <a:off x="6228636" y="2306360"/>
            <a:ext cx="2341007" cy="6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50"/>
              <a:buFont typeface="DM Sans"/>
              <a:buNone/>
            </a:pPr>
            <a:r>
              <a:rPr lang="en-US" sz="20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Professional Network</a:t>
            </a:r>
            <a:endParaRPr sz="2050" b="0" i="0" u="none" strike="noStrike" cap="none"/>
          </a:p>
        </p:txBody>
      </p:sp>
      <p:sp>
        <p:nvSpPr>
          <p:cNvPr id="76" name="Google Shape;76;p19"/>
          <p:cNvSpPr/>
          <p:nvPr/>
        </p:nvSpPr>
        <p:spPr>
          <a:xfrm>
            <a:off x="6228636" y="3096220"/>
            <a:ext cx="2341007" cy="135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Largest social media and professional networking platform worldwide.</a:t>
            </a:r>
            <a:endParaRPr sz="1650" b="0" i="0" u="none" strike="noStrike" cap="none"/>
          </a:p>
        </p:txBody>
      </p:sp>
      <p:pic>
        <p:nvPicPr>
          <p:cNvPr id="77" name="Google Shape;77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87778" y="1564124"/>
            <a:ext cx="530185" cy="53018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/>
          <p:nvPr/>
        </p:nvSpPr>
        <p:spPr>
          <a:xfrm>
            <a:off x="8887778" y="2306360"/>
            <a:ext cx="2341126" cy="33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50"/>
              <a:buFont typeface="DM Sans"/>
              <a:buNone/>
            </a:pPr>
            <a:r>
              <a:rPr lang="en-US" sz="20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LinkedIn Learning</a:t>
            </a:r>
            <a:endParaRPr sz="2050" b="0" i="0" u="none" strike="noStrike" cap="none"/>
          </a:p>
        </p:txBody>
      </p:sp>
      <p:sp>
        <p:nvSpPr>
          <p:cNvPr id="79" name="Google Shape;79;p19"/>
          <p:cNvSpPr/>
          <p:nvPr/>
        </p:nvSpPr>
        <p:spPr>
          <a:xfrm>
            <a:off x="8887778" y="2764869"/>
            <a:ext cx="2341126" cy="101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Comprehensive online learning platform for professional skills.</a:t>
            </a:r>
            <a:endParaRPr sz="1650" b="0" i="0" u="none" strike="noStrike" cap="none"/>
          </a:p>
        </p:txBody>
      </p:sp>
      <p:sp>
        <p:nvSpPr>
          <p:cNvPr id="80" name="Google Shape;80;p19"/>
          <p:cNvSpPr/>
          <p:nvPr/>
        </p:nvSpPr>
        <p:spPr>
          <a:xfrm>
            <a:off x="11547038" y="2306360"/>
            <a:ext cx="2341126" cy="33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50"/>
              <a:buFont typeface="DM Sans"/>
              <a:buNone/>
            </a:pPr>
            <a:r>
              <a:rPr lang="en-US" sz="20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Sales Navigator</a:t>
            </a:r>
            <a:endParaRPr sz="2050" b="0" i="0" u="none" strike="noStrike" cap="none"/>
          </a:p>
        </p:txBody>
      </p:sp>
      <p:sp>
        <p:nvSpPr>
          <p:cNvPr id="81" name="Google Shape;81;p19"/>
          <p:cNvSpPr/>
          <p:nvPr/>
        </p:nvSpPr>
        <p:spPr>
          <a:xfrm>
            <a:off x="11547038" y="2764869"/>
            <a:ext cx="2341126" cy="135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Premium sales tool for lead generation and relationship management.</a:t>
            </a:r>
            <a:endParaRPr sz="1650" b="0" i="0" u="none" strike="noStrike" cap="none"/>
          </a:p>
        </p:txBody>
      </p:sp>
      <p:pic>
        <p:nvPicPr>
          <p:cNvPr id="82" name="Google Shape;82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8636" y="5089327"/>
            <a:ext cx="530185" cy="53018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/>
          <p:nvPr/>
        </p:nvSpPr>
        <p:spPr>
          <a:xfrm>
            <a:off x="6228636" y="5831562"/>
            <a:ext cx="2341007" cy="33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50"/>
              <a:buFont typeface="DM Sans"/>
              <a:buNone/>
            </a:pPr>
            <a:r>
              <a:rPr lang="en-US" sz="20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Talent Solutions</a:t>
            </a:r>
            <a:endParaRPr sz="2050" b="0" i="0" u="none" strike="noStrike" cap="none"/>
          </a:p>
        </p:txBody>
      </p:sp>
      <p:sp>
        <p:nvSpPr>
          <p:cNvPr id="84" name="Google Shape;84;p19"/>
          <p:cNvSpPr/>
          <p:nvPr/>
        </p:nvSpPr>
        <p:spPr>
          <a:xfrm>
            <a:off x="6228636" y="6290072"/>
            <a:ext cx="2341007" cy="135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Recruitment platform connecting employers with potential candidates.</a:t>
            </a:r>
            <a:endParaRPr sz="1650" b="0" i="0" u="none" strike="noStrike" cap="none"/>
          </a:p>
        </p:txBody>
      </p:sp>
      <p:sp>
        <p:nvSpPr>
          <p:cNvPr id="85" name="Google Shape;85;p19"/>
          <p:cNvSpPr txBox="1"/>
          <p:nvPr/>
        </p:nvSpPr>
        <p:spPr>
          <a:xfrm>
            <a:off x="11546925" y="1516475"/>
            <a:ext cx="5301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/>
              <a:t>$</a:t>
            </a:r>
            <a:endParaRPr sz="31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91"/>
    </mc:Choice>
    <mc:Fallback xmlns="">
      <p:transition spd="slow" advTm="330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793790" y="17915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Business Problem</a:t>
            </a:r>
            <a:endParaRPr sz="4450" b="0" i="0" u="none" strike="noStrike" cap="none"/>
          </a:p>
        </p:txBody>
      </p:sp>
      <p:sp>
        <p:nvSpPr>
          <p:cNvPr id="92" name="Google Shape;92;p20"/>
          <p:cNvSpPr/>
          <p:nvPr/>
        </p:nvSpPr>
        <p:spPr>
          <a:xfrm>
            <a:off x="793790" y="30672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The Challenge</a:t>
            </a:r>
            <a:endParaRPr sz="2200" b="0" i="0" u="none" strike="noStrike" cap="none"/>
          </a:p>
        </p:txBody>
      </p:sp>
      <p:sp>
        <p:nvSpPr>
          <p:cNvPr id="93" name="Google Shape;93;p20"/>
          <p:cNvSpPr/>
          <p:nvPr/>
        </p:nvSpPr>
        <p:spPr>
          <a:xfrm>
            <a:off x="793800" y="3648400"/>
            <a:ext cx="6244800" cy="3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Students lack direction when starting their job search — they’re unsure what skills to build, what jobs to pursue, or where to look.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LinkedIn’s current job and learning tools don’t fully serve younger users who are still exploring career paths.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This leads to lower platform engagement from students and underutilization of LinkedIn Learning.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7599521" y="30672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Our Proposal</a:t>
            </a:r>
            <a:endParaRPr sz="2200" b="0" i="0" u="none" strike="noStrike" cap="none"/>
          </a:p>
        </p:txBody>
      </p:sp>
      <p:sp>
        <p:nvSpPr>
          <p:cNvPr id="95" name="Google Shape;95;p20"/>
          <p:cNvSpPr/>
          <p:nvPr/>
        </p:nvSpPr>
        <p:spPr>
          <a:xfrm>
            <a:off x="7599525" y="3648400"/>
            <a:ext cx="6244800" cy="3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job market data and BI dashboards to guide students in making informed career decisions.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Provide personalized, data-driven recommendations for roles, industries, and learning paths.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39725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Turn LinkedIn into the go-to platform for career exploration, not just job search.</a:t>
            </a:r>
            <a:endParaRPr sz="175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71"/>
    </mc:Choice>
    <mc:Fallback xmlns="">
      <p:transition spd="slow" advTm="3417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/>
          <p:nvPr/>
        </p:nvSpPr>
        <p:spPr>
          <a:xfrm>
            <a:off x="766167" y="3339108"/>
            <a:ext cx="5472946" cy="684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300"/>
              <a:buFont typeface="DM Sans"/>
              <a:buNone/>
            </a:pPr>
            <a:r>
              <a:rPr lang="en-US" sz="43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Similar Case Studies</a:t>
            </a:r>
            <a:endParaRPr sz="4300" b="0" i="0" u="none" strike="noStrike" cap="none"/>
          </a:p>
        </p:txBody>
      </p:sp>
      <p:sp>
        <p:nvSpPr>
          <p:cNvPr id="102" name="Google Shape;102;p21"/>
          <p:cNvSpPr/>
          <p:nvPr/>
        </p:nvSpPr>
        <p:spPr>
          <a:xfrm>
            <a:off x="766167" y="4351615"/>
            <a:ext cx="6439614" cy="3275290"/>
          </a:xfrm>
          <a:prstGeom prst="roundRect">
            <a:avLst>
              <a:gd name="adj" fmla="val 10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985004" y="4570452"/>
            <a:ext cx="3849410" cy="34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50"/>
              <a:buFont typeface="DM Sans"/>
              <a:buNone/>
            </a:pPr>
            <a:r>
              <a:rPr lang="en-US" sz="21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Glassdoor Sentiment Analysis</a:t>
            </a:r>
            <a:endParaRPr sz="2150" b="0" i="0" u="none" strike="noStrike" cap="none"/>
          </a:p>
        </p:txBody>
      </p:sp>
      <p:sp>
        <p:nvSpPr>
          <p:cNvPr id="104" name="Google Shape;104;p21"/>
          <p:cNvSpPr/>
          <p:nvPr/>
        </p:nvSpPr>
        <p:spPr>
          <a:xfrm>
            <a:off x="985004" y="5043726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Used NLP to extract sentiment scores from employee reviews.</a:t>
            </a:r>
            <a:endParaRPr sz="1700" b="0" i="0" u="none" strike="noStrike" cap="none"/>
          </a:p>
        </p:txBody>
      </p:sp>
      <p:sp>
        <p:nvSpPr>
          <p:cNvPr id="105" name="Google Shape;105;p21"/>
          <p:cNvSpPr/>
          <p:nvPr/>
        </p:nvSpPr>
        <p:spPr>
          <a:xfrm>
            <a:off x="985004" y="5875615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Created HR dashboards to benchmark satisfaction across companies.</a:t>
            </a:r>
            <a:endParaRPr sz="1700" b="0" i="0" u="none" strike="noStrike" cap="none"/>
          </a:p>
        </p:txBody>
      </p:sp>
      <p:sp>
        <p:nvSpPr>
          <p:cNvPr id="106" name="Google Shape;106;p21"/>
          <p:cNvSpPr/>
          <p:nvPr/>
        </p:nvSpPr>
        <p:spPr>
          <a:xfrm>
            <a:off x="985004" y="6707505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LinkedIn can incorporate similar analytics into Talent Solutions.</a:t>
            </a:r>
            <a:endParaRPr sz="1700" b="0" i="0" u="none" strike="noStrike" cap="none"/>
          </a:p>
        </p:txBody>
      </p:sp>
      <p:sp>
        <p:nvSpPr>
          <p:cNvPr id="107" name="Google Shape;107;p21"/>
          <p:cNvSpPr/>
          <p:nvPr/>
        </p:nvSpPr>
        <p:spPr>
          <a:xfrm>
            <a:off x="7424618" y="4351615"/>
            <a:ext cx="6439614" cy="3275290"/>
          </a:xfrm>
          <a:prstGeom prst="roundRect">
            <a:avLst>
              <a:gd name="adj" fmla="val 10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7643455" y="4570452"/>
            <a:ext cx="3727371" cy="34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50"/>
              <a:buFont typeface="DM Sans"/>
              <a:buNone/>
            </a:pPr>
            <a:r>
              <a:rPr lang="en-US" sz="21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Indeed Job Posting Analytics</a:t>
            </a:r>
            <a:endParaRPr sz="2150" b="0" i="0" u="none" strike="noStrike" cap="none"/>
          </a:p>
        </p:txBody>
      </p:sp>
      <p:sp>
        <p:nvSpPr>
          <p:cNvPr id="109" name="Google Shape;109;p21"/>
          <p:cNvSpPr/>
          <p:nvPr/>
        </p:nvSpPr>
        <p:spPr>
          <a:xfrm>
            <a:off x="7643455" y="5043726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Identified real-time trends in job openings and required skills.</a:t>
            </a:r>
            <a:endParaRPr sz="1700" b="0" i="0" u="none" strike="noStrike" cap="none"/>
          </a:p>
        </p:txBody>
      </p:sp>
      <p:sp>
        <p:nvSpPr>
          <p:cNvPr id="110" name="Google Shape;110;p21"/>
          <p:cNvSpPr/>
          <p:nvPr/>
        </p:nvSpPr>
        <p:spPr>
          <a:xfrm>
            <a:off x="7643455" y="5875615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Created dashboards for workforce development and education institutions.</a:t>
            </a:r>
            <a:endParaRPr sz="1700" b="0" i="0" u="none" strike="noStrike" cap="none"/>
          </a:p>
        </p:txBody>
      </p:sp>
      <p:sp>
        <p:nvSpPr>
          <p:cNvPr id="111" name="Google Shape;111;p21"/>
          <p:cNvSpPr/>
          <p:nvPr/>
        </p:nvSpPr>
        <p:spPr>
          <a:xfrm>
            <a:off x="7643455" y="6707505"/>
            <a:ext cx="6001941" cy="70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LinkedIn can enhance recommendation algorithms with similar insights.</a:t>
            </a:r>
            <a:endParaRPr sz="1700" b="0" i="0" u="none" strike="noStrike" cap="none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30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59"/>
    </mc:Choice>
    <mc:Fallback xmlns="">
      <p:transition spd="slow" advTm="415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793790" y="83462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Proposed BI Solution</a:t>
            </a:r>
            <a:endParaRPr sz="4450" b="0" i="0" u="none" strike="noStrike" cap="none"/>
          </a:p>
        </p:txBody>
      </p:sp>
      <p:pic>
        <p:nvPicPr>
          <p:cNvPr id="119" name="Google Shape;119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7430" y="1997035"/>
            <a:ext cx="1614011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4892" y="2613065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5088255" y="222384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Impact</a:t>
            </a:r>
            <a:endParaRPr sz="2200" b="0" i="0" u="none" strike="noStrike" cap="none"/>
          </a:p>
        </p:txBody>
      </p:sp>
      <p:sp>
        <p:nvSpPr>
          <p:cNvPr id="122" name="Google Shape;122;p22"/>
          <p:cNvSpPr/>
          <p:nvPr/>
        </p:nvSpPr>
        <p:spPr>
          <a:xfrm>
            <a:off x="5088255" y="2714268"/>
            <a:ext cx="506349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Enhanced user engagement and platform value</a:t>
            </a:r>
            <a:endParaRPr sz="1750" b="0" i="0" u="none" strike="noStrike" cap="none"/>
          </a:p>
        </p:txBody>
      </p:sp>
      <p:sp>
        <p:nvSpPr>
          <p:cNvPr id="123" name="Google Shape;123;p22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40424" y="3360658"/>
            <a:ext cx="3228022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4892" y="3814762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5895261" y="358747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Personalization</a:t>
            </a:r>
            <a:endParaRPr sz="2200" b="0" i="0" u="none" strike="noStrike" cap="none"/>
          </a:p>
        </p:txBody>
      </p:sp>
      <p:sp>
        <p:nvSpPr>
          <p:cNvPr id="127" name="Google Shape;127;p22"/>
          <p:cNvSpPr/>
          <p:nvPr/>
        </p:nvSpPr>
        <p:spPr>
          <a:xfrm>
            <a:off x="5895261" y="4077891"/>
            <a:ext cx="552033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Filtering by location, role type, and experience level</a:t>
            </a:r>
            <a:endParaRPr sz="1750" b="0" i="0" u="none" strike="noStrike" cap="none"/>
          </a:p>
        </p:txBody>
      </p:sp>
      <p:sp>
        <p:nvSpPr>
          <p:cNvPr id="128" name="Google Shape;128;p22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3418" y="4724281"/>
            <a:ext cx="4842034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94892" y="5178385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/>
          <p:nvPr/>
        </p:nvSpPr>
        <p:spPr>
          <a:xfrm>
            <a:off x="6702266" y="4951095"/>
            <a:ext cx="312027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Data-Backed Guidance</a:t>
            </a:r>
            <a:endParaRPr sz="2200" b="0" i="0" u="none" strike="noStrike" cap="none"/>
          </a:p>
        </p:txBody>
      </p:sp>
      <p:sp>
        <p:nvSpPr>
          <p:cNvPr id="132" name="Google Shape;132;p22"/>
          <p:cNvSpPr/>
          <p:nvPr/>
        </p:nvSpPr>
        <p:spPr>
          <a:xfrm>
            <a:off x="6702266" y="5441513"/>
            <a:ext cx="44099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Aligning learning with real-world demand</a:t>
            </a:r>
            <a:endParaRPr sz="1750" b="0" i="0" u="none" strike="noStrike" cap="none"/>
          </a:p>
        </p:txBody>
      </p:sp>
      <p:sp>
        <p:nvSpPr>
          <p:cNvPr id="133" name="Google Shape;133;p22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2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6294" y="6087904"/>
            <a:ext cx="6456164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94773" y="6542008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/>
          <p:nvPr/>
        </p:nvSpPr>
        <p:spPr>
          <a:xfrm>
            <a:off x="7509272" y="63147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Actionable Insights</a:t>
            </a:r>
            <a:endParaRPr sz="2200" b="0" i="0" u="none" strike="noStrike" cap="none"/>
          </a:p>
        </p:txBody>
      </p:sp>
      <p:sp>
        <p:nvSpPr>
          <p:cNvPr id="137" name="Google Shape;137;p22"/>
          <p:cNvSpPr/>
          <p:nvPr/>
        </p:nvSpPr>
        <p:spPr>
          <a:xfrm>
            <a:off x="7509272" y="6805136"/>
            <a:ext cx="423481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Job market trends and in-demand skills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793790" y="88570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BI Framework</a:t>
            </a:r>
            <a:endParaRPr sz="4450" b="0" i="0" u="none" strike="noStrike" cap="none"/>
          </a:p>
        </p:txBody>
      </p:sp>
      <p:sp>
        <p:nvSpPr>
          <p:cNvPr id="144" name="Google Shape;144;p23"/>
          <p:cNvSpPr/>
          <p:nvPr/>
        </p:nvSpPr>
        <p:spPr>
          <a:xfrm>
            <a:off x="793790" y="1934647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1303973" y="19346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 sz="2200" b="0" i="0" u="none" strike="noStrike" cap="none"/>
          </a:p>
        </p:txBody>
      </p:sp>
      <p:sp>
        <p:nvSpPr>
          <p:cNvPr id="146" name="Google Shape;146;p23"/>
          <p:cNvSpPr/>
          <p:nvPr/>
        </p:nvSpPr>
        <p:spPr>
          <a:xfrm>
            <a:off x="1303973" y="2425065"/>
            <a:ext cx="704623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Internal LinkedIn datasets: job postings, skills, salaries, applications</a:t>
            </a:r>
            <a:endParaRPr sz="1750" b="0" i="0" u="none" strike="noStrike" cap="none"/>
          </a:p>
        </p:txBody>
      </p:sp>
      <p:sp>
        <p:nvSpPr>
          <p:cNvPr id="147" name="Google Shape;147;p23"/>
          <p:cNvSpPr/>
          <p:nvPr/>
        </p:nvSpPr>
        <p:spPr>
          <a:xfrm>
            <a:off x="1133951" y="3377684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1644134" y="33776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ETL Process</a:t>
            </a:r>
            <a:endParaRPr sz="2200" b="0" i="0" u="none" strike="noStrike" cap="none"/>
          </a:p>
        </p:txBody>
      </p:sp>
      <p:sp>
        <p:nvSpPr>
          <p:cNvPr id="149" name="Google Shape;149;p23"/>
          <p:cNvSpPr/>
          <p:nvPr/>
        </p:nvSpPr>
        <p:spPr>
          <a:xfrm>
            <a:off x="1644134" y="3868103"/>
            <a:ext cx="670607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Extract from LinkedIn databases, transform data, load into structured schema</a:t>
            </a:r>
            <a:endParaRPr sz="1750" b="0" i="0" u="none" strike="noStrike" cap="none"/>
          </a:p>
        </p:txBody>
      </p:sp>
      <p:sp>
        <p:nvSpPr>
          <p:cNvPr id="150" name="Google Shape;150;p23"/>
          <p:cNvSpPr/>
          <p:nvPr/>
        </p:nvSpPr>
        <p:spPr>
          <a:xfrm>
            <a:off x="1474232" y="482072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1984415" y="48207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BI Tools &amp; Analytics</a:t>
            </a:r>
            <a:endParaRPr sz="2200" b="0" i="0" u="none" strike="noStrike" cap="none"/>
          </a:p>
        </p:txBody>
      </p:sp>
      <p:sp>
        <p:nvSpPr>
          <p:cNvPr id="152" name="Google Shape;152;p23"/>
          <p:cNvSpPr/>
          <p:nvPr/>
        </p:nvSpPr>
        <p:spPr>
          <a:xfrm>
            <a:off x="1984415" y="5311140"/>
            <a:ext cx="636579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Tableau for visual analytics, Python for predictive modeling</a:t>
            </a:r>
            <a:endParaRPr sz="1750" b="0" i="0" u="none" strike="noStrike" cap="none"/>
          </a:p>
        </p:txBody>
      </p:sp>
      <p:sp>
        <p:nvSpPr>
          <p:cNvPr id="153" name="Google Shape;153;p23"/>
          <p:cNvSpPr/>
          <p:nvPr/>
        </p:nvSpPr>
        <p:spPr>
          <a:xfrm>
            <a:off x="1814513" y="5900857"/>
            <a:ext cx="170021" cy="1216223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2324695" y="59008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Decision Support</a:t>
            </a:r>
            <a:endParaRPr sz="2200" b="0" i="0" u="none" strike="noStrike" cap="none"/>
          </a:p>
        </p:txBody>
      </p:sp>
      <p:sp>
        <p:nvSpPr>
          <p:cNvPr id="155" name="Google Shape;155;p23"/>
          <p:cNvSpPr/>
          <p:nvPr/>
        </p:nvSpPr>
        <p:spPr>
          <a:xfrm>
            <a:off x="2324695" y="6391275"/>
            <a:ext cx="602551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Insights for students, career centers, and LinkedIn product teams</a:t>
            </a:r>
            <a:endParaRPr sz="1750" b="0" i="0" u="none" strike="noStrike" cap="none"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3765" y="1007873"/>
            <a:ext cx="2238850" cy="594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793790" y="1465421"/>
            <a:ext cx="6214705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BI Prototypes Overview</a:t>
            </a:r>
            <a:endParaRPr sz="4450" b="0" i="0" u="none" strike="noStrike" cap="none"/>
          </a:p>
        </p:txBody>
      </p:sp>
      <p:sp>
        <p:nvSpPr>
          <p:cNvPr id="163" name="Google Shape;163;p24"/>
          <p:cNvSpPr/>
          <p:nvPr/>
        </p:nvSpPr>
        <p:spPr>
          <a:xfrm>
            <a:off x="793790" y="27695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860" y="28120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/>
          <p:nvPr/>
        </p:nvSpPr>
        <p:spPr>
          <a:xfrm>
            <a:off x="1530906" y="2769513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Student Job Market Explorer</a:t>
            </a:r>
            <a:endParaRPr sz="2200" b="0" i="0" u="none" strike="noStrike" cap="none"/>
          </a:p>
        </p:txBody>
      </p:sp>
      <p:sp>
        <p:nvSpPr>
          <p:cNvPr id="166" name="Google Shape;166;p24"/>
          <p:cNvSpPr/>
          <p:nvPr/>
        </p:nvSpPr>
        <p:spPr>
          <a:xfrm>
            <a:off x="1530906" y="3614261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Tracks job postings by industry, skill, and location with interactive visualizations.</a:t>
            </a:r>
            <a:endParaRPr sz="1750" b="0" i="0" u="none" strike="noStrike" cap="none"/>
          </a:p>
        </p:txBody>
      </p:sp>
      <p:sp>
        <p:nvSpPr>
          <p:cNvPr id="167" name="Google Shape;167;p24"/>
          <p:cNvSpPr/>
          <p:nvPr/>
        </p:nvSpPr>
        <p:spPr>
          <a:xfrm>
            <a:off x="4685467" y="276951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0537" y="28120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>
            <a:off x="5422583" y="2769513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Employer &amp; Skill Demand Dashboard</a:t>
            </a:r>
            <a:endParaRPr sz="2200" b="0" i="0" u="none" strike="noStrike" cap="none"/>
          </a:p>
        </p:txBody>
      </p:sp>
      <p:sp>
        <p:nvSpPr>
          <p:cNvPr id="170" name="Google Shape;170;p24"/>
          <p:cNvSpPr/>
          <p:nvPr/>
        </p:nvSpPr>
        <p:spPr>
          <a:xfrm>
            <a:off x="5422583" y="3614261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Highlights top companies hiring students and tracks skill demand by region.</a:t>
            </a:r>
            <a:endParaRPr sz="1750" b="0" i="0" u="none" strike="noStrike" cap="none"/>
          </a:p>
        </p:txBody>
      </p:sp>
      <p:sp>
        <p:nvSpPr>
          <p:cNvPr id="171" name="Google Shape;171;p24"/>
          <p:cNvSpPr/>
          <p:nvPr/>
        </p:nvSpPr>
        <p:spPr>
          <a:xfrm>
            <a:off x="793790" y="55478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860" y="559034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/>
          <p:nvPr/>
        </p:nvSpPr>
        <p:spPr>
          <a:xfrm>
            <a:off x="1530906" y="5547836"/>
            <a:ext cx="313182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Predictive Salary Model</a:t>
            </a:r>
            <a:endParaRPr sz="2200" b="0" i="0" u="none" strike="noStrike" cap="none"/>
          </a:p>
        </p:txBody>
      </p:sp>
      <p:sp>
        <p:nvSpPr>
          <p:cNvPr id="174" name="Google Shape;174;p24"/>
          <p:cNvSpPr/>
          <p:nvPr/>
        </p:nvSpPr>
        <p:spPr>
          <a:xfrm>
            <a:off x="1530906" y="6038255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Uses ML to predict salaries based on skills, titles, and benefits data.</a:t>
            </a:r>
            <a:endParaRPr sz="1750" b="0" i="0" u="none" strike="noStrike" cap="none"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2726" y="3489186"/>
            <a:ext cx="6214699" cy="365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720447" y="846772"/>
            <a:ext cx="7703106" cy="1286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050"/>
              <a:buFont typeface="DM Sans"/>
              <a:buNone/>
            </a:pPr>
            <a:r>
              <a:rPr lang="en-US" sz="40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Prototype 1: Student Job Market Explorer</a:t>
            </a:r>
            <a:endParaRPr sz="4050" b="0" i="0" u="none" strike="noStrike" cap="none"/>
          </a:p>
        </p:txBody>
      </p:sp>
      <p:pic>
        <p:nvPicPr>
          <p:cNvPr id="182" name="Google Shape;182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447" y="2442091"/>
            <a:ext cx="1029295" cy="123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2058472" y="2647950"/>
            <a:ext cx="2573179" cy="32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Track Postings</a:t>
            </a:r>
            <a:endParaRPr sz="2000" b="0" i="0" u="none" strike="noStrike" cap="none"/>
          </a:p>
        </p:txBody>
      </p:sp>
      <p:sp>
        <p:nvSpPr>
          <p:cNvPr id="184" name="Google Shape;184;p25"/>
          <p:cNvSpPr/>
          <p:nvPr/>
        </p:nvSpPr>
        <p:spPr>
          <a:xfrm>
            <a:off x="2058472" y="3093006"/>
            <a:ext cx="6365081" cy="32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Monitor active student job postings by industry, skill, and location</a:t>
            </a:r>
            <a:endParaRPr sz="1600" b="0" i="0" u="none" strike="noStrike" cap="none"/>
          </a:p>
        </p:txBody>
      </p:sp>
      <p:pic>
        <p:nvPicPr>
          <p:cNvPr id="185" name="Google Shape;185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447" y="3677245"/>
            <a:ext cx="1029295" cy="123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2058472" y="3883104"/>
            <a:ext cx="2573179" cy="32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Visualize Distribution</a:t>
            </a:r>
            <a:endParaRPr sz="2000" b="0" i="0" u="none" strike="noStrike" cap="none"/>
          </a:p>
        </p:txBody>
      </p:sp>
      <p:sp>
        <p:nvSpPr>
          <p:cNvPr id="187" name="Google Shape;187;p25"/>
          <p:cNvSpPr/>
          <p:nvPr/>
        </p:nvSpPr>
        <p:spPr>
          <a:xfrm>
            <a:off x="2058472" y="4328160"/>
            <a:ext cx="6365081" cy="32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Interactive maps and bar charts show job concentration</a:t>
            </a:r>
            <a:endParaRPr sz="1600" b="0" i="0" u="none" strike="noStrike" cap="none"/>
          </a:p>
        </p:txBody>
      </p:sp>
      <p:pic>
        <p:nvPicPr>
          <p:cNvPr id="188" name="Google Shape;188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447" y="4912400"/>
            <a:ext cx="1029295" cy="123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2058472" y="5118259"/>
            <a:ext cx="2573179" cy="32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Identify Trends</a:t>
            </a:r>
            <a:endParaRPr sz="2000" b="0" i="0" u="none" strike="noStrike" cap="none"/>
          </a:p>
        </p:txBody>
      </p:sp>
      <p:sp>
        <p:nvSpPr>
          <p:cNvPr id="190" name="Google Shape;190;p25"/>
          <p:cNvSpPr/>
          <p:nvPr/>
        </p:nvSpPr>
        <p:spPr>
          <a:xfrm>
            <a:off x="2058472" y="5563314"/>
            <a:ext cx="6365081" cy="32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Highlight top in-demand skills and high-salary regions</a:t>
            </a:r>
            <a:endParaRPr sz="1600" b="0" i="0" u="none" strike="noStrike" cap="none"/>
          </a:p>
        </p:txBody>
      </p:sp>
      <p:pic>
        <p:nvPicPr>
          <p:cNvPr id="191" name="Google Shape;191;p2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447" y="6147554"/>
            <a:ext cx="1029295" cy="123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2058472" y="6353413"/>
            <a:ext cx="2573179" cy="32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Filter Results</a:t>
            </a:r>
            <a:endParaRPr sz="2000" b="0" i="0" u="none" strike="noStrike" cap="none"/>
          </a:p>
        </p:txBody>
      </p:sp>
      <p:sp>
        <p:nvSpPr>
          <p:cNvPr id="193" name="Google Shape;193;p25"/>
          <p:cNvSpPr/>
          <p:nvPr/>
        </p:nvSpPr>
        <p:spPr>
          <a:xfrm>
            <a:off x="2058472" y="6798469"/>
            <a:ext cx="6365081" cy="32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Refine by work type, experience level, and remote options</a:t>
            </a:r>
            <a:endParaRPr sz="1600" b="0" i="0" u="none" strike="noStrike" cap="none"/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3550" y="2442100"/>
            <a:ext cx="6150701" cy="494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/>
          <p:nvPr/>
        </p:nvSpPr>
        <p:spPr>
          <a:xfrm>
            <a:off x="758666" y="825460"/>
            <a:ext cx="12521684" cy="67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250"/>
              <a:buFont typeface="DM Sans"/>
              <a:buNone/>
            </a:pPr>
            <a:r>
              <a:rPr lang="en-US" sz="42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Prototype 2: Employer &amp; Skill Demand Dashboard</a:t>
            </a:r>
            <a:endParaRPr sz="4250" b="0" i="0" u="none" strike="noStrike" cap="none"/>
          </a:p>
        </p:txBody>
      </p:sp>
      <p:sp>
        <p:nvSpPr>
          <p:cNvPr id="201" name="Google Shape;201;p26"/>
          <p:cNvSpPr/>
          <p:nvPr/>
        </p:nvSpPr>
        <p:spPr>
          <a:xfrm>
            <a:off x="1100050" y="1957425"/>
            <a:ext cx="6516300" cy="5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Highlights top companies hiring students across different position types. Tracks skill demand in key states using interactive visualizations. Measures industry engagement through application metrics.</a:t>
            </a:r>
            <a:endParaRPr sz="1700" b="0" i="0" u="none" strike="noStrike" cap="none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AutoNum type="arabicPeriod"/>
            </a:pP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 Track Employers</a:t>
            </a:r>
            <a:b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Identify top companies hiring students across full-time, internship, and volunteer roles.</a:t>
            </a:r>
            <a:endParaRPr sz="17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AutoNum type="arabicPeriod"/>
            </a:pP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 Analyze Skill Demand</a:t>
            </a:r>
            <a:b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View in-demand skills by region and role type to align learning with hiring trends.</a:t>
            </a:r>
            <a:endParaRPr sz="17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AutoNum type="arabicPeriod"/>
            </a:pP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 Compare Engagement</a:t>
            </a:r>
            <a:b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Use scatter plots and charts to analyze average applications by industry and job type.</a:t>
            </a:r>
            <a:endParaRPr sz="17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AutoNum type="arabicPeriod"/>
            </a:pP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 Filter Insights</a:t>
            </a:r>
            <a:b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Apply dynamic filters for state, experience level, and work type for targeted analysis.</a:t>
            </a:r>
            <a:endParaRPr sz="17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8823"/>
              </a:lnSpc>
              <a:spcBef>
                <a:spcPts val="1200"/>
              </a:spcBef>
              <a:spcAft>
                <a:spcPts val="0"/>
              </a:spcAft>
              <a:buClr>
                <a:srgbClr val="161613"/>
              </a:buClr>
              <a:buSzPts val="1700"/>
              <a:buFont typeface="Inter"/>
              <a:buNone/>
            </a:pPr>
            <a:endParaRPr sz="17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2" name="Google Shape;202;p26" title="Screenshot 2025-04-23 at 11.08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338" y="2132726"/>
            <a:ext cx="6201882" cy="4902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793790" y="1251109"/>
            <a:ext cx="9679424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Prototype 3: Predictive Salary Model</a:t>
            </a:r>
            <a:endParaRPr sz="4450" b="0" i="0" u="none" strike="noStrike" cap="none"/>
          </a:p>
        </p:txBody>
      </p:sp>
      <p:sp>
        <p:nvSpPr>
          <p:cNvPr id="209" name="Google Shape;209;p27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Collection</a:t>
            </a:r>
            <a:endParaRPr sz="2200" b="0" i="0" u="none" strike="noStrike" cap="none"/>
          </a:p>
        </p:txBody>
      </p:sp>
      <p:sp>
        <p:nvSpPr>
          <p:cNvPr id="210" name="Google Shape;210;p27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Load and clean job data from multiple sources</a:t>
            </a:r>
            <a:endParaRPr sz="1750" b="0" i="0" u="none" strike="noStrike" cap="none"/>
          </a:p>
        </p:txBody>
      </p:sp>
      <p:pic>
        <p:nvPicPr>
          <p:cNvPr id="211" name="Google Shape;211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6731" y="31765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Feature Engineering</a:t>
            </a:r>
            <a:endParaRPr sz="2200" b="0" i="0" u="none" strike="noStrike" cap="none"/>
          </a:p>
        </p:txBody>
      </p:sp>
      <p:sp>
        <p:nvSpPr>
          <p:cNvPr id="214" name="Google Shape;214;p27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 meaningful features from skills and benefits data</a:t>
            </a:r>
            <a:endParaRPr sz="1750" b="0" i="0" u="none" strike="noStrike" cap="none"/>
          </a:p>
        </p:txBody>
      </p:sp>
      <p:pic>
        <p:nvPicPr>
          <p:cNvPr id="215" name="Google Shape;215;p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2604" y="35650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Model Training</a:t>
            </a:r>
            <a:endParaRPr sz="2200" b="0" i="0" u="none" strike="noStrike" cap="none"/>
          </a:p>
        </p:txBody>
      </p:sp>
      <p:sp>
        <p:nvSpPr>
          <p:cNvPr id="218" name="Google Shape;218;p27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Train ML models like Random Forest and Gradient Boosting</a:t>
            </a:r>
            <a:endParaRPr sz="1750" b="0" i="0" u="none" strike="noStrike" cap="none"/>
          </a:p>
        </p:txBody>
      </p:sp>
      <p:pic>
        <p:nvPicPr>
          <p:cNvPr id="219" name="Google Shape;219;p2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4103" y="5790962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Evaluation</a:t>
            </a:r>
            <a:endParaRPr sz="2200" b="0" i="0" u="none" strike="noStrike" cap="none"/>
          </a:p>
        </p:txBody>
      </p:sp>
      <p:sp>
        <p:nvSpPr>
          <p:cNvPr id="222" name="Google Shape;222;p27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Measure performance using R² and RMSE metrics</a:t>
            </a:r>
            <a:endParaRPr sz="1750" b="0" i="0" u="none" strike="noStrike" cap="none"/>
          </a:p>
        </p:txBody>
      </p:sp>
      <p:pic>
        <p:nvPicPr>
          <p:cNvPr id="223" name="Google Shape;223;p2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230" y="5402461"/>
            <a:ext cx="339328" cy="42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29"/>
    </mc:Choice>
    <mc:Fallback xmlns="">
      <p:transition spd="slow" advTm="6482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/>
        </p:nvSpPr>
        <p:spPr>
          <a:xfrm>
            <a:off x="691991" y="543639"/>
            <a:ext cx="5666423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850"/>
              <a:buFont typeface="DM Sans"/>
              <a:buNone/>
            </a:pPr>
            <a:r>
              <a:rPr lang="en-US" sz="3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Implementation Process</a:t>
            </a:r>
            <a:endParaRPr sz="3850" b="0" i="0" u="none" strike="noStrike" cap="none"/>
          </a:p>
        </p:txBody>
      </p:sp>
      <p:sp>
        <p:nvSpPr>
          <p:cNvPr id="231" name="Google Shape;231;p28"/>
          <p:cNvSpPr/>
          <p:nvPr/>
        </p:nvSpPr>
        <p:spPr>
          <a:xfrm>
            <a:off x="7303770" y="1556980"/>
            <a:ext cx="22860" cy="6129218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6522601" y="1990368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7092791" y="1779389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6967" y="1816477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/>
          <p:nvPr/>
        </p:nvSpPr>
        <p:spPr>
          <a:xfrm>
            <a:off x="3307318" y="1754624"/>
            <a:ext cx="3019306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Collection &amp; Loading</a:t>
            </a:r>
            <a:endParaRPr sz="1900" b="0" i="0" u="none" strike="noStrike" cap="none"/>
          </a:p>
        </p:txBody>
      </p:sp>
      <p:sp>
        <p:nvSpPr>
          <p:cNvPr id="236" name="Google Shape;236;p28"/>
          <p:cNvSpPr/>
          <p:nvPr/>
        </p:nvSpPr>
        <p:spPr>
          <a:xfrm>
            <a:off x="691991" y="2182177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Gather relevant datasets from LinkedIn's internal sources</a:t>
            </a:r>
            <a:endParaRPr sz="1550" b="0" i="0" u="none" strike="noStrike" cap="none"/>
          </a:p>
        </p:txBody>
      </p:sp>
      <p:sp>
        <p:nvSpPr>
          <p:cNvPr id="237" name="Google Shape;237;p28"/>
          <p:cNvSpPr/>
          <p:nvPr/>
        </p:nvSpPr>
        <p:spPr>
          <a:xfrm>
            <a:off x="7514749" y="2978825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7092791" y="2767846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6967" y="2804934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/>
          <p:nvPr/>
        </p:nvSpPr>
        <p:spPr>
          <a:xfrm>
            <a:off x="8303776" y="2743081"/>
            <a:ext cx="247138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Feature Engineering</a:t>
            </a:r>
            <a:endParaRPr sz="1900" b="0" i="0" u="none" strike="noStrike" cap="none"/>
          </a:p>
        </p:txBody>
      </p:sp>
      <p:sp>
        <p:nvSpPr>
          <p:cNvPr id="241" name="Google Shape;241;p28"/>
          <p:cNvSpPr/>
          <p:nvPr/>
        </p:nvSpPr>
        <p:spPr>
          <a:xfrm>
            <a:off x="8303776" y="3170634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 meaningful variables from raw data</a:t>
            </a:r>
            <a:endParaRPr sz="1550" b="0" i="0" u="none" strike="noStrike" cap="none"/>
          </a:p>
        </p:txBody>
      </p:sp>
      <p:sp>
        <p:nvSpPr>
          <p:cNvPr id="242" name="Google Shape;242;p28"/>
          <p:cNvSpPr/>
          <p:nvPr/>
        </p:nvSpPr>
        <p:spPr>
          <a:xfrm>
            <a:off x="6522601" y="3868460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7092791" y="3657481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6967" y="3694569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8"/>
          <p:cNvSpPr/>
          <p:nvPr/>
        </p:nvSpPr>
        <p:spPr>
          <a:xfrm>
            <a:off x="3039308" y="3632716"/>
            <a:ext cx="3287316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Cleaning &amp; Preparation</a:t>
            </a:r>
            <a:endParaRPr sz="1900" b="0" i="0" u="none" strike="noStrike" cap="none"/>
          </a:p>
        </p:txBody>
      </p:sp>
      <p:sp>
        <p:nvSpPr>
          <p:cNvPr id="246" name="Google Shape;246;p28"/>
          <p:cNvSpPr/>
          <p:nvPr/>
        </p:nvSpPr>
        <p:spPr>
          <a:xfrm>
            <a:off x="691991" y="4060269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Handle missing values and normalize data formats</a:t>
            </a:r>
            <a:endParaRPr sz="1550" b="0" i="0" u="none" strike="noStrike" cap="none"/>
          </a:p>
        </p:txBody>
      </p:sp>
      <p:sp>
        <p:nvSpPr>
          <p:cNvPr id="247" name="Google Shape;247;p28"/>
          <p:cNvSpPr/>
          <p:nvPr/>
        </p:nvSpPr>
        <p:spPr>
          <a:xfrm>
            <a:off x="7514749" y="4758214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7092791" y="4547235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967" y="4584323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/>
          <p:nvPr/>
        </p:nvSpPr>
        <p:spPr>
          <a:xfrm>
            <a:off x="8303776" y="4522470"/>
            <a:ext cx="247138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Model Training</a:t>
            </a:r>
            <a:endParaRPr sz="1900" b="0" i="0" u="none" strike="noStrike" cap="none"/>
          </a:p>
        </p:txBody>
      </p:sp>
      <p:sp>
        <p:nvSpPr>
          <p:cNvPr id="251" name="Google Shape;251;p28"/>
          <p:cNvSpPr/>
          <p:nvPr/>
        </p:nvSpPr>
        <p:spPr>
          <a:xfrm>
            <a:off x="8303776" y="4950023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Develop and refine predictive algorithms</a:t>
            </a:r>
            <a:endParaRPr sz="1550" b="0" i="0" u="none" strike="noStrike" cap="none"/>
          </a:p>
        </p:txBody>
      </p:sp>
      <p:sp>
        <p:nvSpPr>
          <p:cNvPr id="252" name="Google Shape;252;p28"/>
          <p:cNvSpPr/>
          <p:nvPr/>
        </p:nvSpPr>
        <p:spPr>
          <a:xfrm>
            <a:off x="6522601" y="5647968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7092791" y="5436989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2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66967" y="5474077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/>
          <p:nvPr/>
        </p:nvSpPr>
        <p:spPr>
          <a:xfrm>
            <a:off x="3855244" y="5412224"/>
            <a:ext cx="247138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Evaluation &amp; Analysis</a:t>
            </a:r>
            <a:endParaRPr sz="1900" b="0" i="0" u="none" strike="noStrike" cap="none"/>
          </a:p>
        </p:txBody>
      </p:sp>
      <p:sp>
        <p:nvSpPr>
          <p:cNvPr id="256" name="Google Shape;256;p28"/>
          <p:cNvSpPr/>
          <p:nvPr/>
        </p:nvSpPr>
        <p:spPr>
          <a:xfrm>
            <a:off x="691991" y="5839778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Test model performance and extract insights</a:t>
            </a:r>
            <a:endParaRPr sz="1550" b="0" i="0" u="none" strike="noStrike" cap="none"/>
          </a:p>
        </p:txBody>
      </p:sp>
      <p:sp>
        <p:nvSpPr>
          <p:cNvPr id="257" name="Google Shape;257;p28"/>
          <p:cNvSpPr/>
          <p:nvPr/>
        </p:nvSpPr>
        <p:spPr>
          <a:xfrm>
            <a:off x="7514749" y="6537722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7092791" y="6326743"/>
            <a:ext cx="444818" cy="444818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2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66967" y="6363831"/>
            <a:ext cx="296466" cy="37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/>
          <p:nvPr/>
        </p:nvSpPr>
        <p:spPr>
          <a:xfrm>
            <a:off x="8303776" y="6301978"/>
            <a:ext cx="3816548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"/>
              <a:buNone/>
            </a:pPr>
            <a:r>
              <a:rPr lang="en-US" sz="19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Visualization &amp; Insight Extraction</a:t>
            </a:r>
            <a:endParaRPr sz="1900" b="0" i="0" u="none" strike="noStrike" cap="none"/>
          </a:p>
        </p:txBody>
      </p:sp>
      <p:sp>
        <p:nvSpPr>
          <p:cNvPr id="261" name="Google Shape;261;p28"/>
          <p:cNvSpPr/>
          <p:nvPr/>
        </p:nvSpPr>
        <p:spPr>
          <a:xfrm>
            <a:off x="8303776" y="6729532"/>
            <a:ext cx="5634633" cy="316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 intuitive </a:t>
            </a:r>
            <a:r>
              <a:rPr lang="en-US" sz="15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Plots </a:t>
            </a:r>
            <a:r>
              <a:rPr lang="en-US" sz="15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for end users</a:t>
            </a:r>
            <a:endParaRPr sz="1550" b="0" i="0" u="none" strike="noStrike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850"/>
    </mc:Choice>
    <mc:Fallback xmlns="">
      <p:transition spd="slow" advTm="17885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/>
          <p:nvPr/>
        </p:nvSpPr>
        <p:spPr>
          <a:xfrm>
            <a:off x="793790" y="74961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Potential Challenges</a:t>
            </a:r>
            <a:endParaRPr sz="4450" b="0" i="0" u="none" strike="noStrike" cap="none"/>
          </a:p>
        </p:txBody>
      </p:sp>
      <p:sp>
        <p:nvSpPr>
          <p:cNvPr id="268" name="Google Shape;268;p29"/>
          <p:cNvSpPr/>
          <p:nvPr/>
        </p:nvSpPr>
        <p:spPr>
          <a:xfrm>
            <a:off x="793790" y="1912025"/>
            <a:ext cx="1630323" cy="1306949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9467" y="2366129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/>
          <p:nvPr/>
        </p:nvSpPr>
        <p:spPr>
          <a:xfrm>
            <a:off x="2650927" y="21388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Data Quality Issues</a:t>
            </a:r>
            <a:endParaRPr sz="2200" b="0" i="0" u="none" strike="noStrike" cap="none"/>
          </a:p>
        </p:txBody>
      </p:sp>
      <p:sp>
        <p:nvSpPr>
          <p:cNvPr id="271" name="Google Shape;271;p29"/>
          <p:cNvSpPr/>
          <p:nvPr/>
        </p:nvSpPr>
        <p:spPr>
          <a:xfrm>
            <a:off x="2650927" y="2629257"/>
            <a:ext cx="5089684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Inconsistent or missing job data across sources</a:t>
            </a:r>
            <a:endParaRPr sz="1750" b="0" i="0" u="none" strike="noStrike" cap="none"/>
          </a:p>
        </p:txBody>
      </p:sp>
      <p:sp>
        <p:nvSpPr>
          <p:cNvPr id="272" name="Google Shape;272;p29"/>
          <p:cNvSpPr/>
          <p:nvPr/>
        </p:nvSpPr>
        <p:spPr>
          <a:xfrm>
            <a:off x="2537460" y="3203734"/>
            <a:ext cx="11185803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793790" y="3332321"/>
            <a:ext cx="3260646" cy="1306949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569" y="3786426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/>
          <p:nvPr/>
        </p:nvSpPr>
        <p:spPr>
          <a:xfrm>
            <a:off x="4281249" y="3559135"/>
            <a:ext cx="305812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Integration Complexity</a:t>
            </a:r>
            <a:endParaRPr sz="2200" b="0" i="0" u="none" strike="noStrike" cap="none"/>
          </a:p>
        </p:txBody>
      </p:sp>
      <p:sp>
        <p:nvSpPr>
          <p:cNvPr id="276" name="Google Shape;276;p29"/>
          <p:cNvSpPr/>
          <p:nvPr/>
        </p:nvSpPr>
        <p:spPr>
          <a:xfrm>
            <a:off x="4281249" y="4049554"/>
            <a:ext cx="49660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Difficulty merging multiple datasets effectively</a:t>
            </a:r>
            <a:endParaRPr sz="1750" b="0" i="0" u="none" strike="noStrike" cap="none"/>
          </a:p>
        </p:txBody>
      </p:sp>
      <p:sp>
        <p:nvSpPr>
          <p:cNvPr id="277" name="Google Shape;277;p29"/>
          <p:cNvSpPr/>
          <p:nvPr/>
        </p:nvSpPr>
        <p:spPr>
          <a:xfrm>
            <a:off x="4167783" y="4624030"/>
            <a:ext cx="9555480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793790" y="4752618"/>
            <a:ext cx="4890968" cy="1306949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9790" y="5206722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/>
          <p:nvPr/>
        </p:nvSpPr>
        <p:spPr>
          <a:xfrm>
            <a:off x="5911572" y="4979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Limited Salary Data</a:t>
            </a:r>
            <a:endParaRPr sz="2200" b="0" i="0" u="none" strike="noStrike" cap="none"/>
          </a:p>
        </p:txBody>
      </p:sp>
      <p:sp>
        <p:nvSpPr>
          <p:cNvPr id="281" name="Google Shape;281;p29"/>
          <p:cNvSpPr/>
          <p:nvPr/>
        </p:nvSpPr>
        <p:spPr>
          <a:xfrm>
            <a:off x="5911572" y="5469850"/>
            <a:ext cx="40390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Reduced model training effectiveness</a:t>
            </a:r>
            <a:endParaRPr sz="1750" b="0" i="0" u="none" strike="noStrike" cap="none"/>
          </a:p>
        </p:txBody>
      </p:sp>
      <p:sp>
        <p:nvSpPr>
          <p:cNvPr id="282" name="Google Shape;282;p29"/>
          <p:cNvSpPr/>
          <p:nvPr/>
        </p:nvSpPr>
        <p:spPr>
          <a:xfrm>
            <a:off x="5798106" y="6044327"/>
            <a:ext cx="7925157" cy="15240"/>
          </a:xfrm>
          <a:prstGeom prst="roundRect">
            <a:avLst>
              <a:gd name="adj" fmla="val 223256"/>
            </a:avLst>
          </a:prstGeom>
          <a:solidFill>
            <a:srgbClr val="D3D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793790" y="6172914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5011" y="6627019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7542014" y="63997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Bias Risks</a:t>
            </a:r>
            <a:endParaRPr sz="2200" b="0" i="0" u="none" strike="noStrike" cap="none"/>
          </a:p>
        </p:txBody>
      </p:sp>
      <p:sp>
        <p:nvSpPr>
          <p:cNvPr id="286" name="Google Shape;286;p29"/>
          <p:cNvSpPr/>
          <p:nvPr/>
        </p:nvSpPr>
        <p:spPr>
          <a:xfrm>
            <a:off x="7542014" y="6890147"/>
            <a:ext cx="499705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Potential reinforcement of salary or skill biases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/>
          <p:nvPr/>
        </p:nvSpPr>
        <p:spPr>
          <a:xfrm>
            <a:off x="793790" y="132885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"/>
              <a:buNone/>
            </a:pPr>
            <a:r>
              <a:rPr lang="en-US" sz="44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Opportunities</a:t>
            </a:r>
            <a:endParaRPr sz="4450" b="0" i="0" u="none" strike="noStrike" cap="none"/>
          </a:p>
        </p:txBody>
      </p:sp>
      <p:pic>
        <p:nvPicPr>
          <p:cNvPr id="293" name="Google Shape;293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491264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/>
          <p:nvPr/>
        </p:nvSpPr>
        <p:spPr>
          <a:xfrm>
            <a:off x="793790" y="53214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Personalized Insights</a:t>
            </a:r>
            <a:endParaRPr sz="2200" b="0" i="0" u="none" strike="noStrike" cap="none"/>
          </a:p>
        </p:txBody>
      </p:sp>
      <p:sp>
        <p:nvSpPr>
          <p:cNvPr id="295" name="Google Shape;295;p30"/>
          <p:cNvSpPr/>
          <p:nvPr/>
        </p:nvSpPr>
        <p:spPr>
          <a:xfrm>
            <a:off x="793790" y="5811917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Tailored job and skill recommendations based on individual profiles and goals.</a:t>
            </a:r>
            <a:endParaRPr sz="1750" b="0" i="0" u="none" strike="noStrike" cap="none"/>
          </a:p>
        </p:txBody>
      </p:sp>
      <p:pic>
        <p:nvPicPr>
          <p:cNvPr id="296" name="Google Shape;296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4704" y="2491264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/>
          <p:nvPr/>
        </p:nvSpPr>
        <p:spPr>
          <a:xfrm>
            <a:off x="5254704" y="5321617"/>
            <a:ext cx="2891314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Stronger Engagement</a:t>
            </a:r>
            <a:endParaRPr sz="2200" b="0" i="0" u="none" strike="noStrike" cap="none"/>
          </a:p>
        </p:txBody>
      </p:sp>
      <p:sp>
        <p:nvSpPr>
          <p:cNvPr id="298" name="Google Shape;298;p30"/>
          <p:cNvSpPr/>
          <p:nvPr/>
        </p:nvSpPr>
        <p:spPr>
          <a:xfrm>
            <a:off x="5254704" y="5812036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Enhanced connections between employers, universities, and students.</a:t>
            </a:r>
            <a:endParaRPr sz="1750" b="0" i="0" u="none" strike="noStrike" cap="none"/>
          </a:p>
        </p:txBody>
      </p:sp>
      <p:pic>
        <p:nvPicPr>
          <p:cNvPr id="299" name="Google Shape;299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738" y="2491264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/>
          <p:nvPr/>
        </p:nvSpPr>
        <p:spPr>
          <a:xfrm>
            <a:off x="9715738" y="53214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Aligned Education</a:t>
            </a:r>
            <a:endParaRPr sz="2200" b="0" i="0" u="none" strike="noStrike" cap="none"/>
          </a:p>
        </p:txBody>
      </p:sp>
      <p:sp>
        <p:nvSpPr>
          <p:cNvPr id="301" name="Google Shape;301;p30"/>
          <p:cNvSpPr/>
          <p:nvPr/>
        </p:nvSpPr>
        <p:spPr>
          <a:xfrm>
            <a:off x="9715738" y="5811917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Academic programs that reflect current market demands and skill needs.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/>
          <p:nvPr/>
        </p:nvSpPr>
        <p:spPr>
          <a:xfrm>
            <a:off x="665559" y="522922"/>
            <a:ext cx="4754523" cy="59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700"/>
              <a:buFont typeface="DM Sans"/>
              <a:buNone/>
            </a:pPr>
            <a:r>
              <a:rPr lang="en-US" sz="37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Final Summary</a:t>
            </a:r>
            <a:endParaRPr sz="3700" b="0" i="0" u="none" strike="noStrike" cap="none"/>
          </a:p>
        </p:txBody>
      </p:sp>
      <p:pic>
        <p:nvPicPr>
          <p:cNvPr id="308" name="Google Shape;30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0452" y="3498771"/>
            <a:ext cx="9309497" cy="9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4467" y="6874133"/>
            <a:ext cx="320873" cy="40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0452" y="3498771"/>
            <a:ext cx="9309497" cy="9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2721" y="5128558"/>
            <a:ext cx="320873" cy="40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0452" y="3498771"/>
            <a:ext cx="9309497" cy="9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4763" y="4461808"/>
            <a:ext cx="320873" cy="40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60452" y="3498771"/>
            <a:ext cx="9309497" cy="9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06686" y="5128558"/>
            <a:ext cx="320873" cy="40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0452" y="3498771"/>
            <a:ext cx="9309497" cy="930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74940" y="6874133"/>
            <a:ext cx="320873" cy="40112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/>
          <p:nvPr/>
        </p:nvSpPr>
        <p:spPr>
          <a:xfrm>
            <a:off x="692825" y="3724394"/>
            <a:ext cx="2377202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"/>
              <a:buNone/>
            </a:pPr>
            <a:r>
              <a:rPr lang="en-US" sz="1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Market Insights</a:t>
            </a:r>
            <a:endParaRPr sz="1850" b="0" i="0" u="none" strike="noStrike" cap="none"/>
          </a:p>
        </p:txBody>
      </p:sp>
      <p:sp>
        <p:nvSpPr>
          <p:cNvPr id="319" name="Google Shape;319;p31"/>
          <p:cNvSpPr/>
          <p:nvPr/>
        </p:nvSpPr>
        <p:spPr>
          <a:xfrm>
            <a:off x="665559" y="4135636"/>
            <a:ext cx="2431733" cy="91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Student-focused data on job trends and salary expectations</a:t>
            </a:r>
            <a:endParaRPr sz="1450" b="0" i="0" u="none" strike="noStrike" cap="none"/>
          </a:p>
        </p:txBody>
      </p:sp>
      <p:sp>
        <p:nvSpPr>
          <p:cNvPr id="320" name="Google Shape;320;p31"/>
          <p:cNvSpPr/>
          <p:nvPr/>
        </p:nvSpPr>
        <p:spPr>
          <a:xfrm>
            <a:off x="3409712" y="2327910"/>
            <a:ext cx="2377202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"/>
              <a:buNone/>
            </a:pPr>
            <a:r>
              <a:rPr lang="en-US" sz="1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Predictive Models</a:t>
            </a:r>
            <a:endParaRPr sz="1850" b="0" i="0" u="none" strike="noStrike" cap="none"/>
          </a:p>
        </p:txBody>
      </p:sp>
      <p:sp>
        <p:nvSpPr>
          <p:cNvPr id="321" name="Google Shape;321;p31"/>
          <p:cNvSpPr/>
          <p:nvPr/>
        </p:nvSpPr>
        <p:spPr>
          <a:xfrm>
            <a:off x="3382447" y="2739152"/>
            <a:ext cx="2431733" cy="91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ML algorithms to guide career choices and skill development</a:t>
            </a:r>
            <a:endParaRPr sz="1450" b="0" i="0" u="none" strike="noStrike" cap="none"/>
          </a:p>
        </p:txBody>
      </p:sp>
      <p:sp>
        <p:nvSpPr>
          <p:cNvPr id="322" name="Google Shape;322;p31"/>
          <p:cNvSpPr/>
          <p:nvPr/>
        </p:nvSpPr>
        <p:spPr>
          <a:xfrm>
            <a:off x="6099334" y="1497449"/>
            <a:ext cx="2431733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"/>
              <a:buNone/>
            </a:pPr>
            <a:r>
              <a:rPr lang="en-US" sz="1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Interactive Dashboards</a:t>
            </a:r>
            <a:endParaRPr sz="1850" b="0" i="0" u="none" strike="noStrike" cap="none"/>
          </a:p>
        </p:txBody>
      </p:sp>
      <p:sp>
        <p:nvSpPr>
          <p:cNvPr id="323" name="Google Shape;323;p31"/>
          <p:cNvSpPr/>
          <p:nvPr/>
        </p:nvSpPr>
        <p:spPr>
          <a:xfrm>
            <a:off x="6099334" y="2205871"/>
            <a:ext cx="2431733" cy="91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Exploration tools for roles, locations, and compensation</a:t>
            </a:r>
            <a:endParaRPr sz="1450" b="0" i="0" u="none" strike="noStrike" cap="none"/>
          </a:p>
        </p:txBody>
      </p:sp>
      <p:sp>
        <p:nvSpPr>
          <p:cNvPr id="324" name="Google Shape;324;p31"/>
          <p:cNvSpPr/>
          <p:nvPr/>
        </p:nvSpPr>
        <p:spPr>
          <a:xfrm>
            <a:off x="8843486" y="2327910"/>
            <a:ext cx="2377202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"/>
              <a:buNone/>
            </a:pPr>
            <a:r>
              <a:rPr lang="en-US" sz="1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Mission Alignment</a:t>
            </a:r>
            <a:endParaRPr sz="1850" b="0" i="0" u="none" strike="noStrike" cap="none"/>
          </a:p>
        </p:txBody>
      </p:sp>
      <p:sp>
        <p:nvSpPr>
          <p:cNvPr id="325" name="Google Shape;325;p31"/>
          <p:cNvSpPr/>
          <p:nvPr/>
        </p:nvSpPr>
        <p:spPr>
          <a:xfrm>
            <a:off x="8816221" y="2739152"/>
            <a:ext cx="2431733" cy="91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Supporting LinkedIn's goal to connect people with opportunity</a:t>
            </a:r>
            <a:endParaRPr sz="1450" b="0" i="0" u="none" strike="noStrike" cap="none"/>
          </a:p>
        </p:txBody>
      </p:sp>
      <p:sp>
        <p:nvSpPr>
          <p:cNvPr id="326" name="Google Shape;326;p31"/>
          <p:cNvSpPr/>
          <p:nvPr/>
        </p:nvSpPr>
        <p:spPr>
          <a:xfrm>
            <a:off x="11533108" y="3427214"/>
            <a:ext cx="2431733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850"/>
              <a:buFont typeface="DM Sans"/>
              <a:buNone/>
            </a:pPr>
            <a:r>
              <a:rPr lang="en-US" sz="185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Student Empowerment</a:t>
            </a:r>
            <a:endParaRPr sz="1850" b="0" i="0" u="none" strike="noStrike" cap="none"/>
          </a:p>
        </p:txBody>
      </p:sp>
      <p:sp>
        <p:nvSpPr>
          <p:cNvPr id="327" name="Google Shape;327;p31"/>
          <p:cNvSpPr/>
          <p:nvPr/>
        </p:nvSpPr>
        <p:spPr>
          <a:xfrm>
            <a:off x="11533108" y="4135636"/>
            <a:ext cx="2431733" cy="91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Data-driven tools that inform and educate the next generation</a:t>
            </a:r>
            <a:endParaRPr sz="1450" b="0" i="0" u="none" strike="noStrike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849"/>
    </mc:Choice>
    <mc:Fallback xmlns="">
      <p:transition spd="slow" advTm="11884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785098" y="618649"/>
            <a:ext cx="5608320" cy="70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00"/>
              <a:buFont typeface="DM Sans"/>
              <a:buNone/>
            </a:pPr>
            <a:r>
              <a:rPr lang="en-US" sz="44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4400" b="0" i="0" u="none" strike="noStrike" cap="none"/>
          </a:p>
        </p:txBody>
      </p:sp>
      <p:sp>
        <p:nvSpPr>
          <p:cNvPr id="335" name="Google Shape;335;p32"/>
          <p:cNvSpPr/>
          <p:nvPr/>
        </p:nvSpPr>
        <p:spPr>
          <a:xfrm>
            <a:off x="785098" y="1768197"/>
            <a:ext cx="3618667" cy="74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5800"/>
              <a:buFont typeface="DM Sans"/>
              <a:buNone/>
            </a:pPr>
            <a:r>
              <a:rPr lang="en-US" sz="58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5800" b="0" i="0" u="none" strike="noStrike" cap="none"/>
          </a:p>
        </p:txBody>
      </p:sp>
      <p:sp>
        <p:nvSpPr>
          <p:cNvPr id="336" name="Google Shape;336;p32"/>
          <p:cNvSpPr/>
          <p:nvPr/>
        </p:nvSpPr>
        <p:spPr>
          <a:xfrm>
            <a:off x="1192292" y="2788801"/>
            <a:ext cx="2804160" cy="35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Prototypes</a:t>
            </a:r>
            <a:endParaRPr sz="2200" b="0" i="0" u="none" strike="noStrike" cap="none"/>
          </a:p>
        </p:txBody>
      </p:sp>
      <p:sp>
        <p:nvSpPr>
          <p:cNvPr id="337" name="Google Shape;337;p32"/>
          <p:cNvSpPr/>
          <p:nvPr/>
        </p:nvSpPr>
        <p:spPr>
          <a:xfrm>
            <a:off x="785098" y="3273743"/>
            <a:ext cx="3618667" cy="71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Comprehensive BI solutions for student career guidance</a:t>
            </a:r>
            <a:endParaRPr sz="1750" b="0" i="0" u="none" strike="noStrike" cap="none"/>
          </a:p>
        </p:txBody>
      </p:sp>
      <p:sp>
        <p:nvSpPr>
          <p:cNvPr id="338" name="Google Shape;338;p32"/>
          <p:cNvSpPr/>
          <p:nvPr/>
        </p:nvSpPr>
        <p:spPr>
          <a:xfrm>
            <a:off x="4740235" y="1768197"/>
            <a:ext cx="3618667" cy="74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5800"/>
              <a:buFont typeface="DM Sans"/>
              <a:buNone/>
            </a:pPr>
            <a:r>
              <a:rPr lang="en-US" sz="58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sz="5800" b="0" i="0" u="none" strike="noStrike" cap="none"/>
          </a:p>
        </p:txBody>
      </p:sp>
      <p:sp>
        <p:nvSpPr>
          <p:cNvPr id="339" name="Google Shape;339;p32"/>
          <p:cNvSpPr/>
          <p:nvPr/>
        </p:nvSpPr>
        <p:spPr>
          <a:xfrm>
            <a:off x="5087541" y="2788801"/>
            <a:ext cx="2923937" cy="35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Implementation Steps</a:t>
            </a:r>
            <a:endParaRPr sz="2200" b="0" i="0" u="none" strike="noStrike" cap="none"/>
          </a:p>
        </p:txBody>
      </p:sp>
      <p:sp>
        <p:nvSpPr>
          <p:cNvPr id="340" name="Google Shape;340;p32"/>
          <p:cNvSpPr/>
          <p:nvPr/>
        </p:nvSpPr>
        <p:spPr>
          <a:xfrm>
            <a:off x="4740235" y="3273743"/>
            <a:ext cx="3618667" cy="71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Structured approach to building effective BI tools</a:t>
            </a:r>
            <a:endParaRPr sz="1750" b="0" i="0" u="none" strike="noStrike" cap="none"/>
          </a:p>
        </p:txBody>
      </p:sp>
      <p:sp>
        <p:nvSpPr>
          <p:cNvPr id="341" name="Google Shape;341;p32"/>
          <p:cNvSpPr/>
          <p:nvPr/>
        </p:nvSpPr>
        <p:spPr>
          <a:xfrm>
            <a:off x="2762607" y="4776549"/>
            <a:ext cx="3618667" cy="74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5800"/>
              <a:buFont typeface="DM Sans"/>
              <a:buNone/>
            </a:pPr>
            <a:r>
              <a:rPr lang="en-US" sz="58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5+</a:t>
            </a:r>
            <a:endParaRPr sz="5800" b="0" i="0" u="none" strike="noStrike" cap="none"/>
          </a:p>
        </p:txBody>
      </p:sp>
      <p:sp>
        <p:nvSpPr>
          <p:cNvPr id="342" name="Google Shape;342;p32"/>
          <p:cNvSpPr/>
          <p:nvPr/>
        </p:nvSpPr>
        <p:spPr>
          <a:xfrm>
            <a:off x="3169801" y="5797153"/>
            <a:ext cx="2804160" cy="35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"/>
              <a:buNone/>
            </a:pPr>
            <a:r>
              <a:rPr lang="en-US" sz="22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Key Benefits</a:t>
            </a:r>
            <a:endParaRPr sz="2200" b="0" i="0" u="none" strike="noStrike" cap="none"/>
          </a:p>
        </p:txBody>
      </p:sp>
      <p:sp>
        <p:nvSpPr>
          <p:cNvPr id="343" name="Google Shape;343;p32"/>
          <p:cNvSpPr/>
          <p:nvPr/>
        </p:nvSpPr>
        <p:spPr>
          <a:xfrm>
            <a:off x="2762607" y="6282095"/>
            <a:ext cx="3618667" cy="71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Advantages for students, universities, and LinkedIn</a:t>
            </a:r>
            <a:endParaRPr sz="1750" b="0" i="0" u="none" strike="noStrike" cap="none"/>
          </a:p>
        </p:txBody>
      </p:sp>
      <p:sp>
        <p:nvSpPr>
          <p:cNvPr id="344" name="Google Shape;344;p32"/>
          <p:cNvSpPr/>
          <p:nvPr/>
        </p:nvSpPr>
        <p:spPr>
          <a:xfrm>
            <a:off x="785098" y="7252097"/>
            <a:ext cx="7573804" cy="3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Questions? We're happy to discuss our approach in more detail.</a:t>
            </a:r>
            <a:endParaRPr sz="1750" b="0" i="0" u="none" strike="noStrike" cap="non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7"/>
    </mc:Choice>
    <mc:Fallback xmlns="">
      <p:transition spd="slow" advTm="997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854</Words>
  <Application>Microsoft Office PowerPoint</Application>
  <PresentationFormat>Custom</PresentationFormat>
  <Paragraphs>145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Inter</vt:lpstr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praju</dc:creator>
  <cp:lastModifiedBy>Shinde, Prajwal</cp:lastModifiedBy>
  <cp:revision>19</cp:revision>
  <dcterms:modified xsi:type="dcterms:W3CDTF">2026-02-05T14:09:31Z</dcterms:modified>
</cp:coreProperties>
</file>